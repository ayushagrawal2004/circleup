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8288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DF6D6D"/>
                </a:solidFill>
              </a:rPr>
              <a:t>CircleUp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914400" y="292608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F9FAFB"/>
                </a:solidFill>
              </a:rPr>
              <a:t>DevOps &amp; Workflow Presentation</a:t>
            </a:r>
            <a:endParaRPr lang="en-US" sz="2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F6D6D"/>
                </a:solidFill>
              </a:rPr>
              <a:t>1. Introduction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b="1" dirty="0">
                <a:solidFill>
                  <a:srgbClr val="FFFFFF"/>
                </a:solidFill>
              </a:rPr>
              <a:t>Project: </a:t>
            </a:r>
            <a:pPr indent="0" marL="0">
              <a:buNone/>
            </a:pPr>
            <a:r>
              <a:rPr lang="en-US" sz="1800" dirty="0">
                <a:solidFill>
                  <a:srgbClr val="9CA3AF"/>
                </a:solidFill>
              </a:rPr>
              <a:t>CircleUp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9202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b="1" dirty="0">
                <a:solidFill>
                  <a:srgbClr val="FFFFFF"/>
                </a:solidFill>
              </a:rPr>
              <a:t>Concept: </a:t>
            </a:r>
            <a:pPr indent="0" marL="0">
              <a:buNone/>
            </a:pPr>
            <a:r>
              <a:rPr lang="en-US" sz="1800" dirty="0">
                <a:solidFill>
                  <a:srgbClr val="9CA3AF"/>
                </a:solidFill>
              </a:rPr>
              <a:t>Real-time community engagement platform (Chat, Events, Status Music).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2468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b="1" dirty="0">
                <a:solidFill>
                  <a:srgbClr val="FFFFFF"/>
                </a:solidFill>
              </a:rPr>
              <a:t>Tech Stack: </a:t>
            </a:r>
            <a:pPr indent="0" marL="0">
              <a:buNone/>
            </a:pPr>
            <a:r>
              <a:rPr lang="en-US" sz="1800" dirty="0">
                <a:solidFill>
                  <a:srgbClr val="9CA3AF"/>
                </a:solidFill>
              </a:rPr>
              <a:t>MERN (MongoDB, Express, React, Node.js) + Socket.IO.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F6D6D"/>
                </a:solidFill>
              </a:rPr>
              <a:t>2. Table of Contents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9FAFB"/>
                </a:solidFill>
              </a:rPr>
              <a:t>1. Problem Identification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9202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9FAFB"/>
                </a:solidFill>
              </a:rPr>
              <a:t>2. The Solution: CircleUp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2468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9FAFB"/>
                </a:solidFill>
              </a:rPr>
              <a:t>3. Technical Architecture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30175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9FAFB"/>
                </a:solidFill>
              </a:rPr>
              <a:t>4. Version Control Strategy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3566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9FAFB"/>
                </a:solidFill>
              </a:rPr>
              <a:t>5. Key Feature Delivery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9FAFB"/>
                </a:solidFill>
              </a:rPr>
              <a:t>6. GitHub Usage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46634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9FAFB"/>
                </a:solidFill>
              </a:rPr>
              <a:t>7. Conclusion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F6D6D"/>
                </a:solidFill>
              </a:rPr>
              <a:t>3. Problem Identification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b="1" dirty="0">
                <a:solidFill>
                  <a:srgbClr val="FFFFFF"/>
                </a:solidFill>
              </a:rPr>
              <a:t>No Event Planning in WhatsApp: </a:t>
            </a:r>
            <a:pPr indent="0" marL="0">
              <a:buNone/>
            </a:pPr>
            <a:r>
              <a:rPr lang="en-US" sz="1800" dirty="0">
                <a:solidFill>
                  <a:srgbClr val="9CA3AF"/>
                </a:solidFill>
              </a:rPr>
              <a:t>Details lost in spam. Confusion on who/where.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9202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b="1" dirty="0">
                <a:solidFill>
                  <a:srgbClr val="FFFFFF"/>
                </a:solidFill>
              </a:rPr>
              <a:t>Boring Status Updates: </a:t>
            </a:r>
            <a:pPr indent="0" marL="0">
              <a:buNone/>
            </a:pPr>
            <a:r>
              <a:rPr lang="en-US" sz="1800" dirty="0">
                <a:solidFill>
                  <a:srgbClr val="9CA3AF"/>
                </a:solidFill>
              </a:rPr>
              <a:t>Static text/images lack 'vibe'. No local music support.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2468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b="1" dirty="0">
                <a:solidFill>
                  <a:srgbClr val="FFFFFF"/>
                </a:solidFill>
              </a:rPr>
              <a:t>Fragmented Tools: </a:t>
            </a:r>
            <a:pPr indent="0" marL="0">
              <a:buNone/>
            </a:pPr>
            <a:r>
              <a:rPr lang="en-US" sz="1800" dirty="0">
                <a:solidFill>
                  <a:srgbClr val="9CA3AF"/>
                </a:solidFill>
              </a:rPr>
              <a:t>Switching apps (Insta, G-Forms, WhatsApp) to manage one event.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30175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b="1" dirty="0">
                <a:solidFill>
                  <a:srgbClr val="FFFFFF"/>
                </a:solidFill>
              </a:rPr>
              <a:t>Social Disconnect (FB Events): </a:t>
            </a:r>
            <a:pPr indent="0" marL="0">
              <a:buNone/>
            </a:pPr>
            <a:r>
              <a:rPr lang="en-US" sz="1800" dirty="0">
                <a:solidFill>
                  <a:srgbClr val="9CA3AF"/>
                </a:solidFill>
              </a:rPr>
              <a:t>Good features, but empty 'ghost town' engagement.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3566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b="1" dirty="0">
                <a:solidFill>
                  <a:srgbClr val="FFFFFF"/>
                </a:solidFill>
              </a:rPr>
              <a:t>Complexity (Discord): </a:t>
            </a:r>
            <a:pPr indent="0" marL="0">
              <a:buNone/>
            </a:pPr>
            <a:r>
              <a:rPr lang="en-US" sz="1800" dirty="0">
                <a:solidFill>
                  <a:srgbClr val="9CA3AF"/>
                </a:solidFill>
              </a:rPr>
              <a:t>Powerful but overwhelming for non-tech users.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b="1" dirty="0">
                <a:solidFill>
                  <a:srgbClr val="FFFFFF"/>
                </a:solidFill>
              </a:rPr>
              <a:t>Lack of Admin Control: </a:t>
            </a:r>
            <a:pPr indent="0" marL="0">
              <a:buNone/>
            </a:pPr>
            <a:r>
              <a:rPr lang="en-US" sz="1800" dirty="0">
                <a:solidFill>
                  <a:srgbClr val="9CA3AF"/>
                </a:solidFill>
              </a:rPr>
              <a:t>Group chats lack owner-managed threads.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F6D6D"/>
                </a:solidFill>
              </a:rPr>
              <a:t>4. The Solution: CircleUp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b="1" dirty="0">
                <a:solidFill>
                  <a:srgbClr val="FFFFFF"/>
                </a:solidFill>
              </a:rPr>
              <a:t>All-in-One: </a:t>
            </a:r>
            <a:pPr indent="0" marL="0">
              <a:buNone/>
            </a:pPr>
            <a:r>
              <a:rPr lang="en-US" sz="1800" dirty="0">
                <a:solidFill>
                  <a:srgbClr val="9CA3AF"/>
                </a:solidFill>
              </a:rPr>
              <a:t>Unified Chat + Event Management.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9202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b="1" dirty="0">
                <a:solidFill>
                  <a:srgbClr val="FFFFFF"/>
                </a:solidFill>
              </a:rPr>
              <a:t>Status Music: </a:t>
            </a:r>
            <a:pPr indent="0" marL="0">
              <a:buNone/>
            </a:pPr>
            <a:r>
              <a:rPr lang="en-US" sz="1800" dirty="0">
                <a:solidFill>
                  <a:srgbClr val="9CA3AF"/>
                </a:solidFill>
              </a:rPr>
              <a:t>Expressive local audio statuses (Green DevOps: no server bloat).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2468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b="1" dirty="0">
                <a:solidFill>
                  <a:srgbClr val="FFFFFF"/>
                </a:solidFill>
              </a:rPr>
              <a:t>User-Centric: </a:t>
            </a:r>
            <a:pPr indent="0" marL="0">
              <a:buNone/>
            </a:pPr>
            <a:r>
              <a:rPr lang="en-US" sz="1800" dirty="0">
                <a:solidFill>
                  <a:srgbClr val="9CA3AF"/>
                </a:solidFill>
              </a:rPr>
              <a:t>Dark Mode, Responsive, Simple UI.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30175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b="1" dirty="0">
                <a:solidFill>
                  <a:srgbClr val="FFFFFF"/>
                </a:solidFill>
              </a:rPr>
              <a:t>Secure: </a:t>
            </a:r>
            <a:pPr indent="0" marL="0">
              <a:buNone/>
            </a:pPr>
            <a:r>
              <a:rPr lang="en-US" sz="1800" dirty="0">
                <a:solidFill>
                  <a:srgbClr val="9CA3AF"/>
                </a:solidFill>
              </a:rPr>
              <a:t>JWT Auth, Owner-only Event Deletion.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F6D6D"/>
                </a:solidFill>
              </a:rPr>
              <a:t>5. Technical Architecture (Brief)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b="1" dirty="0">
                <a:solidFill>
                  <a:srgbClr val="FFFFFF"/>
                </a:solidFill>
              </a:rPr>
              <a:t>Frontend: </a:t>
            </a:r>
            <a:pPr indent="0" marL="0">
              <a:buNone/>
            </a:pPr>
            <a:r>
              <a:rPr lang="en-US" sz="1800" dirty="0">
                <a:solidFill>
                  <a:srgbClr val="9CA3AF"/>
                </a:solidFill>
              </a:rPr>
              <a:t>React + Vite, TailwindCSS (for Dark Mode), Zustand.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9202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b="1" dirty="0">
                <a:solidFill>
                  <a:srgbClr val="FFFFFF"/>
                </a:solidFill>
              </a:rPr>
              <a:t>Backend: </a:t>
            </a:r>
            <a:pPr indent="0" marL="0">
              <a:buNone/>
            </a:pPr>
            <a:r>
              <a:rPr lang="en-US" sz="1800" dirty="0">
                <a:solidFill>
                  <a:srgbClr val="9CA3AF"/>
                </a:solidFill>
              </a:rPr>
              <a:t>Node/Express, MongoDB (Flexible schema).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2468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b="1" dirty="0">
                <a:solidFill>
                  <a:srgbClr val="FFFFFF"/>
                </a:solidFill>
              </a:rPr>
              <a:t>Real-time: </a:t>
            </a:r>
            <a:pPr indent="0" marL="0">
              <a:buNone/>
            </a:pPr>
            <a:r>
              <a:rPr lang="en-US" sz="1800" dirty="0">
                <a:solidFill>
                  <a:srgbClr val="9CA3AF"/>
                </a:solidFill>
              </a:rPr>
              <a:t>Socket.IO for instant msg &amp; status updates.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F6D6D"/>
                </a:solidFill>
              </a:rPr>
              <a:t>6.1 Version Control: Why Git?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b="1" dirty="0">
                <a:solidFill>
                  <a:srgbClr val="FFFFFF"/>
                </a:solidFill>
              </a:rPr>
              <a:t>Safety Net: </a:t>
            </a:r>
            <a:pPr indent="0" marL="0">
              <a:buNone/>
            </a:pPr>
            <a:r>
              <a:rPr lang="en-US" sz="1800" dirty="0">
                <a:solidFill>
                  <a:srgbClr val="9CA3AF"/>
                </a:solidFill>
              </a:rPr>
              <a:t>Every change is tracked. 'git reflog' saves us from mistakes.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9202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b="1" dirty="0">
                <a:solidFill>
                  <a:srgbClr val="FFFFFF"/>
                </a:solidFill>
              </a:rPr>
              <a:t>Collaboration: </a:t>
            </a:r>
            <a:pPr indent="0" marL="0">
              <a:buNone/>
            </a:pPr>
            <a:r>
              <a:rPr lang="en-US" sz="1800" dirty="0">
                <a:solidFill>
                  <a:srgbClr val="9CA3AF"/>
                </a:solidFill>
              </a:rPr>
              <a:t>Enables multiple developers (or feature branches) to work in parallel.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2468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b="1" dirty="0">
                <a:solidFill>
                  <a:srgbClr val="FFFFFF"/>
                </a:solidFill>
              </a:rPr>
              <a:t>Code Integrity: </a:t>
            </a:r>
            <a:pPr indent="0" marL="0">
              <a:buNone/>
            </a:pPr>
            <a:r>
              <a:rPr lang="en-US" sz="1800" dirty="0">
                <a:solidFill>
                  <a:srgbClr val="9CA3AF"/>
                </a:solidFill>
              </a:rPr>
              <a:t>Ensures production code (`main`) remains stable while features are tested elsewhere.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F6D6D"/>
                </a:solidFill>
              </a:rPr>
              <a:t>6.2 Branching Strategy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b="1" dirty="0">
                <a:solidFill>
                  <a:srgbClr val="FFFFFF"/>
                </a:solidFill>
              </a:rPr>
              <a:t>main: </a:t>
            </a:r>
            <a:pPr indent="0" marL="0">
              <a:buNone/>
            </a:pPr>
            <a:r>
              <a:rPr lang="en-US" sz="1800" dirty="0">
                <a:solidFill>
                  <a:srgbClr val="9CA3AF"/>
                </a:solidFill>
              </a:rPr>
              <a:t>The 'Golden Copy'. Only stable, tested code lands here.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9202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b="1" dirty="0">
                <a:solidFill>
                  <a:srgbClr val="FFFFFF"/>
                </a:solidFill>
              </a:rPr>
              <a:t>v1.1 (Dark Mode): </a:t>
            </a:r>
            <a:pPr indent="0" marL="0">
              <a:buNone/>
            </a:pPr>
            <a:r>
              <a:rPr lang="en-US" sz="1800" dirty="0">
                <a:solidFill>
                  <a:srgbClr val="9CA3AF"/>
                </a:solidFill>
              </a:rPr>
              <a:t>Isolated logic for theming. Prevents CSS bugs from affecting main app.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2468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b="1" dirty="0">
                <a:solidFill>
                  <a:srgbClr val="FFFFFF"/>
                </a:solidFill>
              </a:rPr>
              <a:t>v1.2 (Status Music): </a:t>
            </a:r>
            <a:pPr indent="0" marL="0">
              <a:buNone/>
            </a:pPr>
            <a:r>
              <a:rPr lang="en-US" sz="1800" dirty="0">
                <a:solidFill>
                  <a:srgbClr val="9CA3AF"/>
                </a:solidFill>
              </a:rPr>
              <a:t>Experimental features (IndexedDB) kept separate until proven stable.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30175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b="1" dirty="0">
                <a:solidFill>
                  <a:srgbClr val="FFFFFF"/>
                </a:solidFill>
              </a:rPr>
              <a:t>v1.5 (Polishing): </a:t>
            </a:r>
            <a:pPr indent="0" marL="0">
              <a:buNone/>
            </a:pPr>
            <a:r>
              <a:rPr lang="en-US" sz="1800" dirty="0">
                <a:solidFill>
                  <a:srgbClr val="9CA3AF"/>
                </a:solidFill>
              </a:rPr>
              <a:t>Release prep, bug fixes, and final touches.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F6D6D"/>
                </a:solidFill>
              </a:rPr>
              <a:t>6.3 DevOps Logic: Rebase over Merge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b="1" dirty="0">
                <a:solidFill>
                  <a:srgbClr val="FFFFFF"/>
                </a:solidFill>
              </a:rPr>
              <a:t>The Problem: </a:t>
            </a:r>
            <a:pPr indent="0" marL="0">
              <a:buNone/>
            </a:pPr>
            <a:r>
              <a:rPr lang="en-US" sz="1800" dirty="0">
                <a:solidFill>
                  <a:srgbClr val="9CA3AF"/>
                </a:solidFill>
              </a:rPr>
              <a:t>Standard merges create 'commit bubbles' and messy history.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9202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b="1" dirty="0">
                <a:solidFill>
                  <a:srgbClr val="FFFFFF"/>
                </a:solidFill>
              </a:rPr>
              <a:t>The Solution: </a:t>
            </a:r>
            <a:pPr indent="0" marL="0">
              <a:buNone/>
            </a:pPr>
            <a:r>
              <a:rPr lang="en-US" sz="1800" dirty="0">
                <a:solidFill>
                  <a:srgbClr val="9CA3AF"/>
                </a:solidFill>
              </a:rPr>
              <a:t>`git rebase main` moves feature commits on TOP of the latest main.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2468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b="1" dirty="0">
                <a:solidFill>
                  <a:srgbClr val="FFFFFF"/>
                </a:solidFill>
              </a:rPr>
              <a:t>Benefit: </a:t>
            </a:r>
            <a:pPr indent="0" marL="0">
              <a:buNone/>
            </a:pPr>
            <a:r>
              <a:rPr lang="en-US" sz="1800" dirty="0">
                <a:solidFill>
                  <a:srgbClr val="9CA3AF"/>
                </a:solidFill>
              </a:rPr>
              <a:t>Linear History. Makes tracking bugs (`git bisect`) and code reviews much easier.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F6D6D"/>
                </a:solidFill>
              </a:rPr>
              <a:t>6.4 GitHub Power Tools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b="1" dirty="0">
                <a:solidFill>
                  <a:srgbClr val="FFFFFF"/>
                </a:solidFill>
              </a:rPr>
              <a:t>Semantic Commits: </a:t>
            </a:r>
            <a:pPr indent="0" marL="0">
              <a:buNone/>
            </a:pPr>
            <a:r>
              <a:rPr lang="en-US" sz="1800" dirty="0">
                <a:solidFill>
                  <a:srgbClr val="9CA3AF"/>
                </a:solidFill>
              </a:rPr>
              <a:t>Using `feat:`, `fix:`, `docs:` prefixes for clarity.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9202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b="1" dirty="0">
                <a:solidFill>
                  <a:srgbClr val="FFFFFF"/>
                </a:solidFill>
              </a:rPr>
              <a:t>Release Tags: </a:t>
            </a:r>
            <a:pPr indent="0" marL="0">
              <a:buNone/>
            </a:pPr>
            <a:r>
              <a:rPr lang="en-US" sz="1800" dirty="0">
                <a:solidFill>
                  <a:srgbClr val="9CA3AF"/>
                </a:solidFill>
              </a:rPr>
              <a:t>Using `git tag v1.5` to mark specific deployment points.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2468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b="1" dirty="0">
                <a:solidFill>
                  <a:srgbClr val="FFFFFF"/>
                </a:solidFill>
              </a:rPr>
              <a:t>Remote Backup: </a:t>
            </a:r>
            <a:pPr indent="0" marL="0">
              <a:buNone/>
            </a:pPr>
            <a:r>
              <a:rPr lang="en-US" sz="1800" dirty="0">
                <a:solidFill>
                  <a:srgbClr val="9CA3AF"/>
                </a:solidFill>
              </a:rPr>
              <a:t>Decentralized code storage ensures no data loss.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F6D6D"/>
                </a:solidFill>
              </a:rPr>
              <a:t>Git Workflow Visualized</a:t>
            </a:r>
            <a:endParaRPr lang="en-US" sz="3200" dirty="0"/>
          </a:p>
        </p:txBody>
      </p:sp>
      <p:pic>
        <p:nvPicPr>
          <p:cNvPr id="3" name="Image 0" descr="workflow_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822960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1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F6D6D"/>
                </a:solidFill>
              </a:rPr>
              <a:t>7. Key Feature Delivery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b="1" dirty="0">
                <a:solidFill>
                  <a:srgbClr val="FFFFFF"/>
                </a:solidFill>
              </a:rPr>
              <a:t>Dark Mode (v1.1): </a:t>
            </a:r>
            <a:pPr indent="0" marL="0">
              <a:buNone/>
            </a:pPr>
            <a:r>
              <a:rPr lang="en-US" sz="1800" dirty="0">
                <a:solidFill>
                  <a:srgbClr val="9CA3AF"/>
                </a:solidFill>
              </a:rPr>
              <a:t>Config-based theming (Tailwind). Persisted via LocalStorage.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9202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b="1" dirty="0">
                <a:solidFill>
                  <a:srgbClr val="FFFFFF"/>
                </a:solidFill>
              </a:rPr>
              <a:t>Status Music: </a:t>
            </a:r>
            <a:pPr indent="0" marL="0">
              <a:buNone/>
            </a:pPr>
            <a:r>
              <a:rPr lang="en-US" sz="1800" dirty="0">
                <a:solidFill>
                  <a:srgbClr val="9CA3AF"/>
                </a:solidFill>
              </a:rPr>
              <a:t>Binary data handling. Decision: Client-side IndexedDB (Efficiency).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2468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b="1" dirty="0">
                <a:solidFill>
                  <a:srgbClr val="FFFFFF"/>
                </a:solidFill>
              </a:rPr>
              <a:t>v1.5 Releases: </a:t>
            </a:r>
            <a:pPr indent="0" marL="0">
              <a:buNone/>
            </a:pPr>
            <a:r>
              <a:rPr lang="en-US" sz="1800" dirty="0">
                <a:solidFill>
                  <a:srgbClr val="9CA3AF"/>
                </a:solidFill>
              </a:rPr>
              <a:t>Agile fixes: Logout Button, Secure Event Deletion.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1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F6D6D"/>
                </a:solidFill>
              </a:rPr>
              <a:t>8. GitHub Usage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9FAFB"/>
                </a:solidFill>
              </a:rPr>
              <a:t>Remote Collaboration suitable for teams.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9202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9FAFB"/>
                </a:solidFill>
              </a:rPr>
              <a:t>Release Management with Git Tags.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2468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9FAFB"/>
                </a:solidFill>
              </a:rPr>
              <a:t>Comprehensive Documentation (README w/ Badges).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1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F6D6D"/>
                </a:solidFill>
              </a:rPr>
              <a:t>9. Conclusion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9FAFB"/>
                </a:solidFill>
              </a:rPr>
              <a:t>Demonstrates Full-Stack + DevOps Mindset.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9202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9FAFB"/>
                </a:solidFill>
              </a:rPr>
              <a:t>Git used as a strategic tool, not just a save button.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2468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9FAFB"/>
                </a:solidFill>
              </a:rPr>
              <a:t>Result: Robust, clean, and user-centric software delivery.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2026-01-02T05:19:47Z</dcterms:created>
  <dcterms:modified xsi:type="dcterms:W3CDTF">2026-01-02T05:19:47Z</dcterms:modified>
</cp:coreProperties>
</file>